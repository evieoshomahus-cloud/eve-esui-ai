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3"/>
    <p:sldId id="310" r:id="rId4"/>
    <p:sldId id="311" r:id="rId5"/>
    <p:sldId id="312" r:id="rId6"/>
    <p:sldId id="335" r:id="rId7"/>
    <p:sldId id="336" r:id="rId8"/>
    <p:sldId id="338" r:id="rId9"/>
    <p:sldId id="339" r:id="rId10"/>
    <p:sldId id="340" r:id="rId11"/>
    <p:sldId id="342" r:id="rId12"/>
    <p:sldId id="341" r:id="rId13"/>
    <p:sldId id="343" r:id="rId14"/>
    <p:sldId id="344" r:id="rId15"/>
    <p:sldId id="345" r:id="rId16"/>
    <p:sldId id="346" r:id="rId17"/>
    <p:sldId id="349" r:id="rId18"/>
    <p:sldId id="347" r:id="rId19"/>
    <p:sldId id="348" r:id="rId20"/>
    <p:sldId id="351" r:id="rId21"/>
    <p:sldId id="352" r:id="rId22"/>
    <p:sldId id="32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2" name="Picture 1" descr="edsui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730" y="2104390"/>
            <a:ext cx="2014855" cy="20262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816210" y="44640"/>
            <a:ext cx="118189" cy="6492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extBox 5"/>
          <p:cNvSpPr txBox="1"/>
          <p:nvPr/>
        </p:nvSpPr>
        <p:spPr>
          <a:xfrm>
            <a:off x="10795" y="-17780"/>
            <a:ext cx="980567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an ai system for personalized learning and academic progress tracking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80000"/>
              </a:lnSpc>
            </a:pP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</a:t>
            </a:r>
            <a:endParaRPr lang="en-US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MATRICULATION NUMBER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SCIENCE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EDO STATE UNIVERSITY IYAMHO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______________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795" y="-17780"/>
            <a:ext cx="1218057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STUDY</a:t>
            </a:r>
            <a:endParaRPr lang="en-US" alt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Eve Content 2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Universities increasingly use digital platforms for learning and student support.</a:t>
            </a:r>
          </a:p>
          <a:p>
            <a:r>
              <a:rPr lang="en-US" sz="2100"/>
              <a:t>- Students need personalized help with weak topics, study planning, and mock tests.</a:t>
            </a:r>
          </a:p>
          <a:p>
            <a:r>
              <a:rPr lang="en-US" sz="2100"/>
              <a:t>- Lecturers need timely insight into course performance and intervention needs.</a:t>
            </a:r>
          </a:p>
          <a:p>
            <a:r>
              <a:rPr lang="en-US" sz="2100"/>
              <a:t>- Generic AI tools are not designed around ESUI data, privacy, or role-based access.</a:t>
            </a:r>
          </a:p>
          <a:p>
            <a:r>
              <a:rPr lang="en-US" sz="2100"/>
              <a:t>- Eve was developed as an AI academic companion for Edo State University Iyamho.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795" y="-17780"/>
            <a:ext cx="1218438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THE PROBLEM</a:t>
            </a:r>
            <a:endParaRPr lang="en-US" altLang="en-US" sz="3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3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Eve Content 3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Academic guidance is spread across portals, offices, websites, and course materials.</a:t>
            </a:r>
          </a:p>
          <a:p>
            <a:r>
              <a:rPr lang="en-US" sz="2100"/>
              <a:t>- Students may know their scores but lack continuous improvement guidance.</a:t>
            </a:r>
          </a:p>
          <a:p>
            <a:r>
              <a:rPr lang="en-US" sz="2100"/>
              <a:t>- Lecturers may not easily connect student practice activity to teaching intervention.</a:t>
            </a:r>
          </a:p>
          <a:p>
            <a:r>
              <a:rPr lang="en-US" sz="2100"/>
              <a:t>- Generic chatbots can hallucinate or expose private data if poorly governed.</a:t>
            </a:r>
          </a:p>
          <a:p>
            <a:r>
              <a:rPr lang="en-US" sz="2100"/>
              <a:t>- A role-aware AI system is needed for personalized learning and progress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58420"/>
            <a:ext cx="12172315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OBJECTIVES</a:t>
            </a:r>
            <a:endParaRPr lang="en-US" altLang="zh-CN" sz="3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Eve Content 4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Aim: To design and implement an ai system for personalized learning and academic progress tracking.</a:t>
            </a:r>
          </a:p>
          <a:p>
            <a:r>
              <a:rPr lang="en-US" sz="2100"/>
              <a:t>- Design a responsive academic-support interface.</a:t>
            </a:r>
          </a:p>
          <a:p>
            <a:r>
              <a:rPr lang="en-US" sz="2100"/>
              <a:t>- Implement personalized student learning progress tracking.</a:t>
            </a:r>
          </a:p>
          <a:p>
            <a:r>
              <a:rPr lang="en-US" sz="2100"/>
              <a:t>- Identify weak topics and recommend learning sessions.</a:t>
            </a:r>
          </a:p>
          <a:p>
            <a:r>
              <a:rPr lang="en-US" sz="2100"/>
              <a:t>- Implement guided sessions with quiz scoring, feedback, and SQLite history.</a:t>
            </a:r>
          </a:p>
          <a:p>
            <a:r>
              <a:rPr lang="en-US" sz="2100"/>
              <a:t>- Provide lecturer assigned-course analytics with guardrails and RAG.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57785"/>
            <a:ext cx="12172315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STUDY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Eve Content 5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Students receive personalized academic guidance and weak-topic support.</a:t>
            </a:r>
          </a:p>
          <a:p>
            <a:r>
              <a:rPr lang="en-US" sz="2100"/>
              <a:t>- Lecturers receive course-level evidence for teaching intervention.</a:t>
            </a:r>
          </a:p>
          <a:p>
            <a:r>
              <a:rPr lang="en-US" sz="2100"/>
              <a:t>- Prospective candidates receive admission-readiness and public guidance.</a:t>
            </a:r>
          </a:p>
          <a:p>
            <a:r>
              <a:rPr lang="en-US" sz="2100"/>
              <a:t>- The university gains a prototype for a future institutional AI platform.</a:t>
            </a:r>
          </a:p>
          <a:p>
            <a:r>
              <a:rPr lang="en-US" sz="2100"/>
              <a:t>- The system improves support while enforcing privacy and cybersecurity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Eve Content 6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RAG improves factual grounding by combining retrieval with generation.</a:t>
            </a:r>
          </a:p>
          <a:p>
            <a:r>
              <a:rPr lang="en-US" sz="2100"/>
              <a:t>- LLMs can support explanation, tutoring, and summarization when constrained.</a:t>
            </a:r>
          </a:p>
          <a:p>
            <a:r>
              <a:rPr lang="en-US" sz="2100"/>
              <a:t>- AI risk frameworks emphasize governance, privacy, safety, and accountability.</a:t>
            </a:r>
          </a:p>
          <a:p>
            <a:r>
              <a:rPr lang="en-US" sz="2100"/>
              <a:t>- Universities such as ASU, University of Michigan, Georgia State, and University of Houston show growing AI adoption.</a:t>
            </a:r>
          </a:p>
          <a:p>
            <a:r>
              <a:rPr lang="en-US" sz="2100"/>
              <a:t>- Identified gap: an ESUI-focused system for personalized learning and progress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EXISTING SYSTEM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Eve Content 7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Students rely on separate sources for guidance and course support.</a:t>
            </a:r>
          </a:p>
          <a:p>
            <a:r>
              <a:rPr lang="en-US" sz="2100"/>
              <a:t>- Public information, course materials, and academic records are not unified.</a:t>
            </a:r>
          </a:p>
          <a:p>
            <a:r>
              <a:rPr lang="en-US" sz="2100"/>
              <a:t>- Existing support may not provide continuous personalized recommendations.</a:t>
            </a:r>
          </a:p>
          <a:p>
            <a:r>
              <a:rPr lang="en-US" sz="2100"/>
              <a:t>- Lecturer intervention can depend on delayed or fragmented data.</a:t>
            </a:r>
          </a:p>
          <a:p>
            <a:r>
              <a:rPr lang="en-US" sz="2100"/>
              <a:t>- Generic AI tools lack ESUI-specific governance and privacy controls.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EXISTING SYSTEM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Eve Content 8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Student or candidate asks office, website, lecturer, or peers.</a:t>
            </a:r>
          </a:p>
          <a:p>
            <a:r>
              <a:rPr lang="en-US" sz="2100"/>
              <a:t>- Information is manually searched or requested.</a:t>
            </a:r>
          </a:p>
          <a:p>
            <a:r>
              <a:rPr lang="en-US" sz="2100"/>
              <a:t>- Progress tracking depends on isolated scores and manual interpretation.</a:t>
            </a:r>
          </a:p>
          <a:p>
            <a:r>
              <a:rPr lang="en-US" sz="2100"/>
              <a:t>- Lecturer intervention depends on delayed or fragmented data.</a:t>
            </a:r>
          </a:p>
          <a:p>
            <a:r>
              <a:rPr lang="en-US" sz="2100"/>
              <a:t>- Weaknesses: slow feedback, scattered data, limited personalization, privacy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PROPOSED SYSTEM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Eve Content 9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Proposed system: Eve.</a:t>
            </a:r>
          </a:p>
          <a:p>
            <a:r>
              <a:rPr lang="en-US" sz="2100"/>
              <a:t>- Guest mode for public and admission guidance.</a:t>
            </a:r>
          </a:p>
          <a:p>
            <a:r>
              <a:rPr lang="en-US" sz="2100"/>
              <a:t>- Student mode for personalized learning and progress tracking.</a:t>
            </a:r>
          </a:p>
          <a:p>
            <a:r>
              <a:rPr lang="en-US" sz="2100"/>
              <a:t>- Lecturer mode for assigned-course analytics.</a:t>
            </a:r>
          </a:p>
          <a:p>
            <a:r>
              <a:rPr lang="en-US" sz="2100"/>
              <a:t>- RAG for verified ESUI knowledge and guardrails for privacy protection.</a:t>
            </a:r>
          </a:p>
          <a:p>
            <a:r>
              <a:rPr lang="en-US" sz="2100"/>
              <a:t>- SQLite persistence and optional OpenAI mode for natural responses.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METHODOLOGY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Eve Content 10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Design and implementation research approach.</a:t>
            </a:r>
          </a:p>
          <a:p>
            <a:r>
              <a:rPr lang="en-US" sz="2100"/>
              <a:t>- Iterative prototyping model.</a:t>
            </a:r>
          </a:p>
          <a:p>
            <a:r>
              <a:rPr lang="en-US" sz="2100"/>
              <a:t>- Requirement analysis from project description and ESUI context.</a:t>
            </a:r>
          </a:p>
          <a:p>
            <a:r>
              <a:rPr lang="en-US" sz="2100"/>
              <a:t>- Backend implemented with Python FastAPI.</a:t>
            </a:r>
          </a:p>
          <a:p>
            <a:r>
              <a:rPr lang="en-US" sz="2100"/>
              <a:t>- Client implemented with Flutter.</a:t>
            </a:r>
          </a:p>
          <a:p>
            <a:r>
              <a:rPr lang="en-US" sz="2100"/>
              <a:t>- Testing through API checks, Flutter analysis, widget tests, and security scenarios.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PROPOSED SYSTEM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Eve Content 11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User -&gt; Flutter Client -&gt; FastAPI Backend.</a:t>
            </a:r>
          </a:p>
          <a:p>
            <a:r>
              <a:rPr lang="en-US" sz="2100"/>
              <a:t>- Backend -&gt; Guardrails -&gt; Role-Based Access.</a:t>
            </a:r>
          </a:p>
          <a:p>
            <a:r>
              <a:rPr lang="en-US" sz="2100"/>
              <a:t>- Backend -&gt; RAG -&gt; ESUI Knowledge Base.</a:t>
            </a:r>
          </a:p>
          <a:p>
            <a:r>
              <a:rPr lang="en-US" sz="2100"/>
              <a:t>- Academic services -&gt; SQLite progress database.</a:t>
            </a:r>
          </a:p>
          <a:p>
            <a:r>
              <a:rPr lang="en-US" sz="2100"/>
              <a:t>- Optional OpenAI Responses API improves response naturalness.</a:t>
            </a:r>
          </a:p>
          <a:p>
            <a:r>
              <a:rPr lang="en-US" sz="2100"/>
              <a:t>- Local fallback keeps the system usable without OpenAI mode.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Eve Content 12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Hardware: laptop or desktop computer with internet for OpenAI mode.</a:t>
            </a:r>
          </a:p>
          <a:p>
            <a:r>
              <a:rPr lang="en-US" sz="2100"/>
              <a:t>- Software: Windows, Flutter SDK, Python, FastAPI, Uvicorn, SQLite, browser.</a:t>
            </a:r>
          </a:p>
          <a:p>
            <a:r>
              <a:rPr lang="en-US" sz="2100"/>
              <a:t>- Backend URL: http://127.0.0.1:8010.</a:t>
            </a:r>
          </a:p>
          <a:p>
            <a:r>
              <a:rPr lang="en-US" sz="2100"/>
              <a:t>- Flutter web URL: http://127.0.0.1:8011.</a:t>
            </a:r>
          </a:p>
          <a:p>
            <a:r>
              <a:rPr lang="en-US" sz="2100"/>
              <a:t>- API key is stored privately in .env and never hard-coded.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GB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DIAGRAMS</a:t>
            </a:r>
            <a:endParaRPr lang="en-US" alt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GB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alt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GB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alt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GB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alt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GB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alt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Eve Content 13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Use Case Diagram: Guest, Student, Lecturer, Eve AI System.</a:t>
            </a:r>
          </a:p>
          <a:p>
            <a:r>
              <a:rPr lang="en-US" sz="2100"/>
              <a:t>- Data Flow Diagram: Flutter client, API, guardrails, RAG, academic services, SQLite.</a:t>
            </a:r>
          </a:p>
          <a:p>
            <a:r>
              <a:rPr lang="en-US" sz="2100"/>
              <a:t>- ERD: learning_sessions and learning_answers.</a:t>
            </a:r>
          </a:p>
          <a:p>
            <a:r>
              <a:rPr lang="en-US" sz="2100"/>
              <a:t>- Sequence Diagram: start session, submit answer, score answer, save progress.</a:t>
            </a:r>
          </a:p>
          <a:p>
            <a:r>
              <a:rPr lang="en-US" sz="2100"/>
              <a:t>- These diagrams are documented in Chapter Three.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IMPLEMENTATION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Eve Content 14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Entry and role selection screen.</a:t>
            </a:r>
          </a:p>
          <a:p>
            <a:r>
              <a:rPr lang="en-US" sz="2100"/>
              <a:t>- AI chat interface.</a:t>
            </a:r>
          </a:p>
          <a:p>
            <a:r>
              <a:rPr lang="en-US" sz="2100"/>
              <a:t>- Admission readiness estimator.</a:t>
            </a:r>
          </a:p>
          <a:p>
            <a:r>
              <a:rPr lang="en-US" sz="2100"/>
              <a:t>- Student learning progress dashboard.</a:t>
            </a:r>
          </a:p>
          <a:p>
            <a:r>
              <a:rPr lang="en-US" sz="2100"/>
              <a:t>- Guided learning session mode with feedback history.</a:t>
            </a:r>
          </a:p>
          <a:p>
            <a:r>
              <a:rPr lang="en-US" sz="2100"/>
              <a:t>- Lecturer teaching workbench and OpenAI response layer.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93980" y="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PROCEDURES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Eve Content 15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Created curated ESUI knowledge and sample academic records.</a:t>
            </a:r>
          </a:p>
          <a:p>
            <a:r>
              <a:rPr lang="en-US" sz="2100"/>
              <a:t>- Built FastAPI backend routes and Flutter screens.</a:t>
            </a:r>
          </a:p>
          <a:p>
            <a:r>
              <a:rPr lang="en-US" sz="2100"/>
              <a:t>- Implemented role-based access and prompt-injection checks.</a:t>
            </a:r>
          </a:p>
          <a:p>
            <a:r>
              <a:rPr lang="en-US" sz="2100"/>
              <a:t>- Added RAG retrieval and OpenAI response mode.</a:t>
            </a:r>
          </a:p>
          <a:p>
            <a:r>
              <a:rPr lang="en-US" sz="2100"/>
              <a:t>- Added learning profile, guided sessions, quiz scoring, and SQLite persistence.</a:t>
            </a:r>
          </a:p>
          <a:p>
            <a:r>
              <a:rPr lang="en-US" sz="2100"/>
              <a:t>- Added lecturer saved-session analytics and tested the system.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93980" y="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AND TOOLS USED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Eve Content 16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Flutter and Dart: responsive client and future Android deployment.</a:t>
            </a:r>
          </a:p>
          <a:p>
            <a:r>
              <a:rPr lang="en-US" sz="2100"/>
              <a:t>- Python: backend and AI orchestration.</a:t>
            </a:r>
          </a:p>
          <a:p>
            <a:r>
              <a:rPr lang="en-US" sz="2100"/>
              <a:t>- FastAPI: REST API server.</a:t>
            </a:r>
          </a:p>
          <a:p>
            <a:r>
              <a:rPr lang="en-US" sz="2100"/>
              <a:t>- SQLite: persistent progress tracking.</a:t>
            </a:r>
          </a:p>
          <a:p>
            <a:r>
              <a:rPr lang="en-US" sz="2100"/>
              <a:t>- JSON: prototype knowledge and academic records.</a:t>
            </a:r>
          </a:p>
          <a:p>
            <a:r>
              <a:rPr lang="en-US" sz="2100"/>
              <a:t>- OpenAI Responses API: optional natural language generation.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INTERFACE / SCREENSHOTS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Eve Content 17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Entry screen.</a:t>
            </a:r>
          </a:p>
          <a:p>
            <a:r>
              <a:rPr lang="en-US" sz="2100"/>
              <a:t>- Student learning progress dashboard.</a:t>
            </a:r>
          </a:p>
          <a:p>
            <a:r>
              <a:rPr lang="en-US" sz="2100"/>
              <a:t>- Guided learning session screen.</a:t>
            </a:r>
          </a:p>
          <a:p>
            <a:r>
              <a:rPr lang="en-US" sz="2100"/>
              <a:t>- Feedback history and quiz score.</a:t>
            </a:r>
          </a:p>
          <a:p>
            <a:r>
              <a:rPr lang="en-US" sz="2100"/>
              <a:t>- Lecturer teaching workbench.</a:t>
            </a:r>
          </a:p>
          <a:p>
            <a:r>
              <a:rPr lang="en-US" sz="2100"/>
              <a:t>- Admission readiness estimator and ChatGPT-style chat interface.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OF RESULTS / EVALUATION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Eve Content 18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python -m compileall -q api: passed.</a:t>
            </a:r>
          </a:p>
          <a:p>
            <a:r>
              <a:rPr lang="en-US" sz="2100"/>
              <a:t>- flutter analyze: no issues found.</a:t>
            </a:r>
          </a:p>
          <a:p>
            <a:r>
              <a:rPr lang="en-US" sz="2100"/>
              <a:t>- flutter test: all tests passed.</a:t>
            </a:r>
          </a:p>
          <a:p>
            <a:r>
              <a:rPr lang="en-US" sz="2100"/>
              <a:t>- Backend health endpoint returned ok.</a:t>
            </a:r>
          </a:p>
          <a:p>
            <a:r>
              <a:rPr lang="en-US" sz="2100"/>
              <a:t>- Student progress and progress-history endpoints returned saved data.</a:t>
            </a:r>
          </a:p>
          <a:p>
            <a:r>
              <a:rPr lang="en-US" sz="2100"/>
              <a:t>- Lecturer endpoint returned assigned-course learning trends.</a:t>
            </a:r>
          </a:p>
          <a:p>
            <a:r>
              <a:rPr lang="en-US" sz="2100"/>
              <a:t>- Guardrails blocked unsafe requests.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RECOMMENDATIONS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Eve Content 19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- The project successfully implemented an AI system for personalized learning and academic progress tracking.</a:t>
            </a:r>
          </a:p>
          <a:p>
            <a:r>
              <a:rPr lang="en-US" sz="2100"/>
              <a:t>- Eve supports guest, student, and lecturer modes.</a:t>
            </a:r>
          </a:p>
          <a:p>
            <a:r>
              <a:rPr lang="en-US" sz="2100"/>
              <a:t>- The system demonstrates RAG, guardrails, guided learning, saved progress, and lecturer analytics.</a:t>
            </a:r>
          </a:p>
          <a:p>
            <a:r>
              <a:rPr lang="en-US" sz="2100"/>
              <a:t>- Recommendations: integrate official ESUI records, Canvas LMS, managed database storage, and admin content approval.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REFERENCES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Eve Content 20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750"/>
              <a:t>- Lewis et al. (2020) - Retrieval-Augmented Generation.</a:t>
            </a:r>
          </a:p>
          <a:p>
            <a:r>
              <a:rPr lang="en-US" sz="1750"/>
              <a:t>- NIST (2023) - AI Risk Management Framework.</a:t>
            </a:r>
          </a:p>
          <a:p>
            <a:r>
              <a:rPr lang="en-US" sz="1750"/>
              <a:t>- ISO/IEC (2023) - AI Management System.</a:t>
            </a:r>
          </a:p>
          <a:p>
            <a:r>
              <a:rPr lang="en-US" sz="1750"/>
              <a:t>- Zhao et al. (2023) - Survey of Large Language Models.</a:t>
            </a:r>
          </a:p>
          <a:p>
            <a:r>
              <a:rPr lang="en-US" sz="1750"/>
              <a:t>- Gao et al. (2024) - RAG Survey.</a:t>
            </a:r>
          </a:p>
          <a:p>
            <a:r>
              <a:rPr lang="en-US" sz="1750"/>
              <a:t>- OWASP (2025) - Top 10 for LLM Applications.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2" name="Picture 1" descr="edsui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730" y="2104390"/>
            <a:ext cx="2014855" cy="20262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816210" y="44640"/>
            <a:ext cx="118189" cy="6492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extBox 5"/>
          <p:cNvSpPr txBox="1"/>
          <p:nvPr/>
        </p:nvSpPr>
        <p:spPr>
          <a:xfrm>
            <a:off x="10795" y="-17780"/>
            <a:ext cx="980567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altLang="zh-CN" sz="8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8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altLang="zh-CN" sz="1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Eve Content 21"/>
          <p:cNvSpPr txBox="1"/>
          <p:nvPr/>
        </p:nvSpPr>
        <p:spPr>
          <a:xfrm>
            <a:off x="760000" y="1480000"/>
            <a:ext cx="11380000" cy="5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100"/>
              <a:t>Thank you.</a:t>
            </a:r>
          </a:p>
          <a:p>
            <a:r>
              <a:rPr lang="en-US" sz="2100"/>
              <a:t>Questions and contributions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WPS Presentation</Application>
  <PresentationFormat>Widescreen</PresentationFormat>
  <Paragraphs>63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Museo Sans 700</vt:lpstr>
      <vt:lpstr>Times New Roman</vt:lpstr>
      <vt:lpstr>Wide Latin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AH Msigwa</dc:creator>
  <cp:lastModifiedBy>ADMIN</cp:lastModifiedBy>
  <cp:revision>41</cp:revision>
  <dcterms:created xsi:type="dcterms:W3CDTF">2024-05-27T11:36:00Z</dcterms:created>
  <dcterms:modified xsi:type="dcterms:W3CDTF">2026-05-29T18:21:27Z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FCC433B3A17644FBBA07D7C6A965166E_13</vt:lpwstr>
  </property>
  <property fmtid="{D5CDD505-2E9C-101B-9397-08002B2CF9AE}" pid="3" name="KSOProductBuildVer">
    <vt:lpwstr>1033-12.1.0.26880</vt:lpwstr>
  </property>
</Properties>
</file>
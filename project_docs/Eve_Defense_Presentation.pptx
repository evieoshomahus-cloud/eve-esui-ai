
<file path=[Content_Types].xml><?xml version="1.0" encoding="utf-8"?>
<ns0:Types xmlns:ns0="http://schemas.openxmlformats.org/package/2006/content-types">
  <ns0:Default Extension="jpeg" ContentType="image/jpeg"/>
  <ns0:Default Extension="JPG" ContentType="image/.jp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  <ns0:Default Extension="jpg" ContentType="image/jpeg"/>
</ns0: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7" r:id="rId3"/>
    <p:sldId id="310" r:id="rId4"/>
    <p:sldId id="311" r:id="rId5"/>
    <p:sldId id="312" r:id="rId6"/>
    <p:sldId id="335" r:id="rId7"/>
    <p:sldId id="336" r:id="rId8"/>
    <p:sldId id="338" r:id="rId9"/>
    <p:sldId id="339" r:id="rId10"/>
    <p:sldId id="340" r:id="rId11"/>
    <p:sldId id="342" r:id="rId12"/>
    <p:sldId id="341" r:id="rId13"/>
    <p:sldId id="343" r:id="rId14"/>
    <p:sldId id="344" r:id="rId15"/>
    <p:sldId id="345" r:id="rId16"/>
    <p:sldId id="346" r:id="rId17"/>
    <p:sldId id="349" r:id="rId18"/>
    <p:sldId id="347" r:id="rId19"/>
    <p:sldId id="348" r:id="rId20"/>
    <p:sldId id="351" r:id="rId21"/>
    <p:sldId id="352" r:id="rId22"/>
    <p:sldId id="32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84AC43-2DB5-46A6-9BBC-6D8A061A38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604F6-8C26-4312-8BD7-794C52112BC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EveExistingArchitecture" Type="http://schemas.openxmlformats.org/officeDocument/2006/relationships/image" Target="../media/eve_slide8_existing_architecture.png" /></ns0: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EveProposedArchitecture" Type="http://schemas.openxmlformats.org/officeDocument/2006/relationships/image" Target="../media/eve_slide11_proposed_architecture.png" /></ns0: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EveDataFlow" Type="http://schemas.openxmlformats.org/officeDocument/2006/relationships/image" Target="../media/eve_slide13_data_flow.png" /><ns0:Relationship Id="rIdEveDatabaseErd" Type="http://schemas.openxmlformats.org/officeDocument/2006/relationships/image" Target="../media/eve_slide13_database_erd.png" /></ns0: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EveDashboard" Type="http://schemas.openxmlformats.org/officeDocument/2006/relationships/image" Target="../media/eve_slide17_dashboard.png" /><ns0:Relationship Id="rIdEveChat" Type="http://schemas.openxmlformats.org/officeDocument/2006/relationships/image" Target="../media/eve_slide17_chat.png" /><ns0:Relationship Id="rIdEveReview" Type="http://schemas.openxmlformats.org/officeDocument/2006/relationships/image" Target="../media/eve_slide17_review.png" /><ns0:Relationship Id="rIdEveAdmin" Type="http://schemas.openxmlformats.org/officeDocument/2006/relationships/image" Target="../media/eve_slide17_admin.png" /></ns0: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pic>
        <p:nvPicPr>
          <p:cNvPr id="2" name="Picture 1" descr="edsui-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1730" y="2104390"/>
            <a:ext cx="2014855" cy="20262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816210" y="44640"/>
            <a:ext cx="118189" cy="649224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98056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and implementation of an ai system for personalized learning and academic progress tracking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r>
              <a:rPr lang="en-US" alt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0000"/>
              </a:lnSpc>
            </a:pP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OF STUDENT</a:t>
            </a:r>
            <a:endParaRPr lang="en-US" altLang="en-US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r>
              <a:rPr lang="en-US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MATRICULATION NUMBER</a:t>
            </a:r>
            <a:endParaRPr lang="en-US" altLang="en-US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</a:pP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FACULTY OF SCIENCE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EDO STATE UNIVERSITY IYAMHO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SUPERVISOR: ______________</a:t>
            </a:r>
            <a:endParaRPr lang="en-US" altLang="zh-C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121805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  <a:endParaRPr lang="en-US" altLang="en-GB" sz="3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Eve Content 2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Universities increasingly use digital platforms for learning and student support.</a:t>
            </a:r>
          </a:p>
          <a:p>
            <a:r>
              <a:rPr lang="en-US" sz="2100"/>
              <a:t>- Students need personalized help with weak topics, study planning, and mock tests.</a:t>
            </a:r>
          </a:p>
          <a:p>
            <a:r>
              <a:rPr lang="en-US" sz="2100"/>
              <a:t>- Lecturers need timely insight into course performance and intervention needs.</a:t>
            </a:r>
          </a:p>
          <a:p>
            <a:r>
              <a:rPr lang="en-US" sz="2100"/>
              <a:t>- Generic AI tools are not designed around ESUI data, privacy, or role-based access.</a:t>
            </a:r>
          </a:p>
          <a:p>
            <a:r>
              <a:rPr lang="en-US" sz="2100"/>
              <a:t>- Eve was developed as an AI academic companion for Edo State University Iyamho.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1218438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en-US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</a:t>
            </a:r>
            <a:endParaRPr lang="en-US" altLang="en-US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altLang="en-GB" sz="3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0" name="Eve Content 3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Academic guidance is spread across portals, offices, websites, and course materials.</a:t>
            </a:r>
          </a:p>
          <a:p>
            <a:r>
              <a:rPr lang="en-US" sz="2100"/>
              <a:t>- Students may know their scores but lack continuous improvement guidance.</a:t>
            </a:r>
          </a:p>
          <a:p>
            <a:r>
              <a:rPr lang="en-US" sz="2100"/>
              <a:t>- Lecturers may not easily connect student practice activity to teaching intervention.</a:t>
            </a:r>
          </a:p>
          <a:p>
            <a:r>
              <a:rPr lang="en-US" sz="2100"/>
              <a:t>- Generic chatbots can hallucinate or expose private data if poorly governed.</a:t>
            </a:r>
          </a:p>
          <a:p>
            <a:r>
              <a:rPr lang="en-US" sz="2100"/>
              <a:t>- A role-aware AI system is needed for personalized learning and progress tracking.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58420"/>
            <a:ext cx="12172315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AIM AND OBJECTIVES</a:t>
            </a:r>
            <a:endParaRPr lang="en-US" altLang="zh-CN" sz="36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Eve Content 4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Aim: To design and implement an ai system for personalized learning and academic progress tracking.</a:t>
            </a:r>
          </a:p>
          <a:p>
            <a:r>
              <a:rPr lang="en-US" sz="2100"/>
              <a:t>- Design a responsive academic-support interface.</a:t>
            </a:r>
          </a:p>
          <a:p>
            <a:r>
              <a:rPr lang="en-US" sz="2100"/>
              <a:t>- Implement personalized student learning progress tracking.</a:t>
            </a:r>
          </a:p>
          <a:p>
            <a:r>
              <a:rPr lang="en-US" sz="2100"/>
              <a:t>- Identify weak topics and recommend learning sessions.</a:t>
            </a:r>
          </a:p>
          <a:p>
            <a:r>
              <a:rPr lang="en-US" sz="2100"/>
              <a:t>- Implement guided sessions with quiz scoring, feedback, and SQLite history.</a:t>
            </a:r>
          </a:p>
          <a:p>
            <a:r>
              <a:rPr lang="en-US" sz="2100"/>
              <a:t>- Support upload-assisted learning questions and moderated peer notes.</a:t>
            </a:r>
          </a:p>
          <a:p>
            <a:r>
              <a:rPr lang="en-US" sz="2100"/>
              <a:t>- Provide lecturer assigned-course analytics with guardrails and RAG.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57785"/>
            <a:ext cx="12172315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Eve Content 5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Students receive personalized academic guidance and weak-topic support.</a:t>
            </a:r>
          </a:p>
          <a:p>
            <a:r>
              <a:rPr lang="en-US" sz="2100"/>
              <a:t>- Lecturers receive course-level evidence for teaching intervention.</a:t>
            </a:r>
          </a:p>
          <a:p>
            <a:r>
              <a:rPr lang="en-US" sz="2100"/>
              <a:t>- Prospective candidates receive admission-readiness and public guidance.</a:t>
            </a:r>
          </a:p>
          <a:p>
            <a:r>
              <a:rPr lang="en-US" sz="2100"/>
              <a:t>- The university gains a prototype for a future institutional AI platform.</a:t>
            </a:r>
          </a:p>
          <a:p>
            <a:r>
              <a:rPr lang="en-US" sz="2100"/>
              <a:t>- The system improves support while enforcing privacy and cybersecurity controls.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3" name="Eve Content 6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RAG improves factual grounding by combining retrieval with generation.</a:t>
            </a:r>
          </a:p>
          <a:p>
            <a:r>
              <a:rPr lang="en-US" sz="2100"/>
              <a:t>- LLMs can support explanation, tutoring, and summarization when constrained.</a:t>
            </a:r>
          </a:p>
          <a:p>
            <a:r>
              <a:rPr lang="en-US" sz="2100"/>
              <a:t>- AI risk frameworks emphasize governance, privacy, safety, and accountability.</a:t>
            </a:r>
          </a:p>
          <a:p>
            <a:r>
              <a:rPr lang="en-US" sz="2100"/>
              <a:t>- Universities such as ASU, University of Michigan, Georgia State, and University of Houston show growing AI adoption.</a:t>
            </a:r>
          </a:p>
          <a:p>
            <a:r>
              <a:rPr lang="en-US" sz="2100"/>
              <a:t>- Identified gap: an ESUI-focused system for personalized learning and progress tracking.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EXISTING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4" name="Eve Content 7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Students rely on separate sources for guidance and course support.</a:t>
            </a:r>
          </a:p>
          <a:p>
            <a:r>
              <a:rPr lang="en-US" sz="2100"/>
              <a:t>- Public information, course materials, and academic records are not unified.</a:t>
            </a:r>
          </a:p>
          <a:p>
            <a:r>
              <a:rPr lang="en-US" sz="2100"/>
              <a:t>- Existing support may not provide continuous personalized recommendations.</a:t>
            </a:r>
          </a:p>
          <a:p>
            <a:r>
              <a:rPr lang="en-US" sz="2100"/>
              <a:t>- Lecturer intervention can depend on delayed or fragmented data.</a:t>
            </a:r>
          </a:p>
          <a:p>
            <a:r>
              <a:rPr lang="en-US" sz="2100"/>
              <a:t>- Generic AI tools lack ESUI-specific governance and privacy controls.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OF THE EXISTING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Eve Content 8"/>
          <p:cNvSpPr txBox="1"/>
          <p:nvPr/>
        </p:nvSpPr>
        <p:spPr>
          <a:xfrm>
            <a:off x="650000" y="1700000"/>
            <a:ext cx="4000000" cy="4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550"/>
              <a:t>- Information is scattered across website, portal, offices, lecturers, course materials, and peers.</a:t>
            </a:r>
          </a:p>
          <a:p>
            <a:r>
              <a:rPr lang="en-US" sz="1550"/>
              <a:t>- The student must manually search across several sources.</a:t>
            </a:r>
          </a:p>
          <a:p>
            <a:r>
              <a:rPr lang="en-US" sz="1550"/>
              <a:t>- There is limited personalization, delayed feedback, and no continuous progress tracking.</a:t>
            </a:r>
          </a:p>
        </p:txBody>
      </p:sp>
      <p:pic>
        <p:nvPicPr>
          <p:cNvPr id="116" name="Architecture of the existing system"/>
          <p:cNvPicPr/>
          <p:nvPr/>
        </p:nvPicPr>
        <p:blipFill>
          <a:blip r:embed="rIdEveExistingArchitecture"/>
          <a:stretch>
            <a:fillRect/>
          </a:stretch>
        </p:blipFill>
        <p:spPr>
          <a:xfrm>
            <a:off x="5200000" y="1871875"/>
            <a:ext cx="6500000" cy="36562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PROPOSED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6" name="Eve Content 9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Proposed system: Eve.</a:t>
            </a:r>
          </a:p>
          <a:p>
            <a:r>
              <a:rPr lang="en-US" sz="2100"/>
              <a:t>- Guest mode for public and admission guidance.</a:t>
            </a:r>
          </a:p>
          <a:p>
            <a:r>
              <a:rPr lang="en-US" sz="2100"/>
              <a:t>- Student mode for personalized learning and progress tracking.</a:t>
            </a:r>
          </a:p>
          <a:p>
            <a:r>
              <a:rPr lang="en-US" sz="2100"/>
              <a:t>- Lecturer mode for assigned-course analytics.</a:t>
            </a:r>
          </a:p>
          <a:p>
            <a:r>
              <a:rPr lang="en-US" sz="2100"/>
              <a:t>- Upload-assisted Ask Eve support for student notes.</a:t>
            </a:r>
          </a:p>
          <a:p>
            <a:r>
              <a:rPr lang="en-US" sz="2100"/>
              <a:t>- Moderated peer notes and admin knowledge governance.</a:t>
            </a:r>
          </a:p>
          <a:p>
            <a:r>
              <a:rPr lang="en-US" sz="2100"/>
              <a:t>- RAG for verified ESUI knowledge and guardrails for privacy protection.</a:t>
            </a:r>
          </a:p>
          <a:p>
            <a:r>
              <a:rPr lang="en-US" sz="2100"/>
              <a:t>- SQLite persistence and optional OpenAI mode for natural responses.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METHODOLOGY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Eve Content 10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Design and implementation research approach.</a:t>
            </a:r>
          </a:p>
          <a:p>
            <a:r>
              <a:rPr lang="en-US" sz="2100"/>
              <a:t>- Iterative prototyping model.</a:t>
            </a:r>
          </a:p>
          <a:p>
            <a:r>
              <a:rPr lang="en-US" sz="2100"/>
              <a:t>- Requirement analysis from project description and ESUI context.</a:t>
            </a:r>
          </a:p>
          <a:p>
            <a:r>
              <a:rPr lang="en-US" sz="2100"/>
              <a:t>- Backend implemented with Python FastAPI.</a:t>
            </a:r>
          </a:p>
          <a:p>
            <a:r>
              <a:rPr lang="en-US" sz="2100"/>
              <a:t>- Client implemented with Flutter.</a:t>
            </a:r>
          </a:p>
          <a:p>
            <a:r>
              <a:rPr lang="en-US" sz="2100"/>
              <a:t>- Testing through API checks, Flutter analysis, widget tests, and security scenarios.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OF THE PROPOSED SYSTEM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Eve Content 11"/>
          <p:cNvSpPr txBox="1"/>
          <p:nvPr/>
        </p:nvSpPr>
        <p:spPr>
          <a:xfrm>
            <a:off x="650000" y="1700000"/>
            <a:ext cx="4000000" cy="4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550"/>
              <a:t>- Flutter connects guest, student, and lecturer users to a FastAPI backend.</a:t>
            </a:r>
          </a:p>
          <a:p>
            <a:r>
              <a:rPr lang="en-US" sz="1550"/>
              <a:t>- Guardrails and role-based access control protect private academic data.</a:t>
            </a:r>
          </a:p>
          <a:p>
            <a:r>
              <a:rPr lang="en-US" sz="1550"/>
              <a:t>- RAG, academic services, SQLite, peer-note review, and OpenAI mode work together.</a:t>
            </a:r>
          </a:p>
        </p:txBody>
      </p:sp>
      <p:pic>
        <p:nvPicPr>
          <p:cNvPr id="119" name="Architecture of the proposed Eve system"/>
          <p:cNvPicPr/>
          <p:nvPr/>
        </p:nvPicPr>
        <p:blipFill>
          <a:blip r:embed="rIdEveProposedArchitecture"/>
          <a:stretch>
            <a:fillRect/>
          </a:stretch>
        </p:blipFill>
        <p:spPr>
          <a:xfrm>
            <a:off x="5200000" y="1871875"/>
            <a:ext cx="6500000" cy="3656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9" name="Eve Content 12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Hardware: laptop or desktop computer with internet for OpenAI mode.</a:t>
            </a:r>
          </a:p>
          <a:p>
            <a:r>
              <a:rPr lang="en-US" sz="2100"/>
              <a:t>- Software: Windows, Flutter SDK, Python, FastAPI, Uvicorn, SQLite, browser.</a:t>
            </a:r>
          </a:p>
          <a:p>
            <a:r>
              <a:rPr lang="en-US" sz="2100"/>
              <a:t>- Backend URL: http://127.0.0.1:8010.</a:t>
            </a:r>
          </a:p>
          <a:p>
            <a:r>
              <a:rPr lang="en-US" sz="2100"/>
              <a:t>- Flutter web URL: http://127.0.0.1:8011.</a:t>
            </a:r>
          </a:p>
          <a:p>
            <a:r>
              <a:rPr lang="en-US" sz="2100"/>
              <a:t>- API key is stored privately in .env and never hard-coded.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endParaRPr lang="en-US" altLang="en-GB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DIAGRAMS</a:t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en-GB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US" altLang="en-GB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Eve Content 13"/>
          <p:cNvSpPr txBox="1"/>
          <p:nvPr/>
        </p:nvSpPr>
        <p:spPr>
          <a:xfrm>
            <a:off x="650000" y="1700000"/>
            <a:ext cx="4000000" cy="4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550"/>
              <a:t>- Data flow shows how a request becomes a grounded Eve response.</a:t>
            </a:r>
          </a:p>
          <a:p>
            <a:r>
              <a:rPr lang="en-US" sz="1550"/>
              <a:t>- Storage design separates learning progress from moderated peer-note review.</a:t>
            </a:r>
          </a:p>
          <a:p>
            <a:r>
              <a:rPr lang="en-US" sz="1550"/>
              <a:t>- Use case, sequence, and ERD details are documented in Chapter Three.</a:t>
            </a:r>
          </a:p>
        </p:txBody>
      </p:sp>
      <p:pic>
        <p:nvPicPr>
          <p:cNvPr id="121" name="Eve data flow diagram"/>
          <p:cNvPicPr/>
          <p:nvPr/>
        </p:nvPicPr>
        <p:blipFill>
          <a:blip r:embed="rIdEveDataFlow"/>
          <a:stretch>
            <a:fillRect/>
          </a:stretch>
        </p:blipFill>
        <p:spPr>
          <a:xfrm>
            <a:off x="6444444" y="1500000"/>
            <a:ext cx="3911111" cy="2200000"/>
          </a:xfrm>
          <a:prstGeom prst="rect">
            <a:avLst/>
          </a:prstGeom>
        </p:spPr>
      </p:pic>
      <p:pic>
        <p:nvPicPr>
          <p:cNvPr id="122" name="Eve database and storage design"/>
          <p:cNvPicPr/>
          <p:nvPr/>
        </p:nvPicPr>
        <p:blipFill>
          <a:blip r:embed="rIdEveDatabaseErd"/>
          <a:stretch>
            <a:fillRect/>
          </a:stretch>
        </p:blipFill>
        <p:spPr>
          <a:xfrm>
            <a:off x="6444444" y="4050000"/>
            <a:ext cx="3911111" cy="22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OVERVIEW OF IMPLEMENTATION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Eve Content 14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Entry and role selection screen.</a:t>
            </a:r>
          </a:p>
          <a:p>
            <a:r>
              <a:rPr lang="en-US" sz="2100"/>
              <a:t>- AI chat interface.</a:t>
            </a:r>
          </a:p>
          <a:p>
            <a:r>
              <a:rPr lang="en-US" sz="2100"/>
              <a:t>- Admission readiness estimator.</a:t>
            </a:r>
          </a:p>
          <a:p>
            <a:r>
              <a:rPr lang="en-US" sz="2100"/>
              <a:t>- Student learning progress dashboard.</a:t>
            </a:r>
          </a:p>
          <a:p>
            <a:r>
              <a:rPr lang="en-US" sz="2100"/>
              <a:t>- Guided learning session mode with feedback history.</a:t>
            </a:r>
          </a:p>
          <a:p>
            <a:r>
              <a:rPr lang="en-US" sz="2100"/>
              <a:t>- Upload-assisted Ask Eve questions.</a:t>
            </a:r>
          </a:p>
          <a:p>
            <a:r>
              <a:rPr lang="en-US" sz="2100"/>
              <a:t>- Moderated peer-note contribution and lecturer review.</a:t>
            </a:r>
          </a:p>
          <a:p>
            <a:r>
              <a:rPr lang="en-US" sz="2100"/>
              <a:t>- Lecturer teaching workbench, admin governance, and OpenAI response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-93980" y="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PROCEDURES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Eve Content 15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Created curated ESUI knowledge and sample academic records.</a:t>
            </a:r>
          </a:p>
          <a:p>
            <a:r>
              <a:rPr lang="en-US" sz="2100"/>
              <a:t>- Built FastAPI backend routes and Flutter screens.</a:t>
            </a:r>
          </a:p>
          <a:p>
            <a:r>
              <a:rPr lang="en-US" sz="2100"/>
              <a:t>- Implemented role-based access and prompt-injection checks.</a:t>
            </a:r>
          </a:p>
          <a:p>
            <a:r>
              <a:rPr lang="en-US" sz="2100"/>
              <a:t>- Added RAG retrieval and OpenAI response mode.</a:t>
            </a:r>
          </a:p>
          <a:p>
            <a:r>
              <a:rPr lang="en-US" sz="2100"/>
              <a:t>- Added learning profile, guided sessions, quiz scoring, and SQLite persistence.</a:t>
            </a:r>
          </a:p>
          <a:p>
            <a:r>
              <a:rPr lang="en-US" sz="2100"/>
              <a:t>- Added upload-assisted questions and moderated peer notes.</a:t>
            </a:r>
          </a:p>
          <a:p>
            <a:r>
              <a:rPr lang="en-US" sz="2100"/>
              <a:t>- Added lecturer saved-session analytics and tested the system.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-93980" y="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 AND TOOLS USED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Eve Content 16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Flutter and Dart: responsive client and future Android deployment.</a:t>
            </a:r>
          </a:p>
          <a:p>
            <a:r>
              <a:rPr lang="en-US" sz="2100"/>
              <a:t>- Python: backend and AI orchestration.</a:t>
            </a:r>
          </a:p>
          <a:p>
            <a:r>
              <a:rPr lang="en-US" sz="2100"/>
              <a:t>- FastAPI: REST API server.</a:t>
            </a:r>
          </a:p>
          <a:p>
            <a:r>
              <a:rPr lang="en-US" sz="2100"/>
              <a:t>- SQLite: persistent progress tracking.</a:t>
            </a:r>
          </a:p>
          <a:p>
            <a:r>
              <a:rPr lang="en-US" sz="2100"/>
              <a:t>- JSON: prototype knowledge and academic records.</a:t>
            </a:r>
          </a:p>
          <a:p>
            <a:r>
              <a:rPr lang="en-US" sz="2100"/>
              <a:t>- OpenAI Responses API: optional natural language generation.</a:t>
            </a:r>
          </a:p>
          <a:p>
            <a:r>
              <a:rPr lang="en-US" sz="2100"/>
              <a:t>- Render: public deployment for user review.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INTERFACE / SCREENSHOTS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Eve Content 17"/>
          <p:cNvSpPr txBox="1"/>
          <p:nvPr/>
        </p:nvSpPr>
        <p:spPr>
          <a:xfrm>
            <a:off x="760000" y="1250000"/>
            <a:ext cx="11380000" cy="5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450"/>
              <a:t>- Personalized dashboard, Ask Eve conversation, lecturer review, and knowledge governance are shown below.</a:t>
            </a:r>
          </a:p>
        </p:txBody>
      </p:sp>
      <p:pic>
        <p:nvPicPr>
          <p:cNvPr id="125" name="Personalized student dashboard"/>
          <p:cNvPicPr/>
          <p:nvPr/>
        </p:nvPicPr>
        <p:blipFill>
          <a:blip r:embed="rIdEveDashboard"/>
          <a:stretch>
            <a:fillRect/>
          </a:stretch>
        </p:blipFill>
        <p:spPr>
          <a:xfrm>
            <a:off x="1159275" y="1850000"/>
            <a:ext cx="4321450" cy="2050000"/>
          </a:xfrm>
          <a:prstGeom prst="rect">
            <a:avLst/>
          </a:prstGeom>
        </p:spPr>
      </p:pic>
      <p:pic>
        <p:nvPicPr>
          <p:cNvPr id="126" name="Ask Eve conversation"/>
          <p:cNvPicPr/>
          <p:nvPr/>
        </p:nvPicPr>
        <p:blipFill>
          <a:blip r:embed="rIdEveChat"/>
          <a:stretch>
            <a:fillRect/>
          </a:stretch>
        </p:blipFill>
        <p:spPr>
          <a:xfrm>
            <a:off x="6945440" y="1850000"/>
            <a:ext cx="4309119" cy="2050000"/>
          </a:xfrm>
          <a:prstGeom prst="rect">
            <a:avLst/>
          </a:prstGeom>
        </p:spPr>
      </p:pic>
      <p:pic>
        <p:nvPicPr>
          <p:cNvPr id="127" name="Lecturer peer-note review"/>
          <p:cNvPicPr/>
          <p:nvPr/>
        </p:nvPicPr>
        <p:blipFill>
          <a:blip r:embed="rIdEveReview"/>
          <a:stretch>
            <a:fillRect/>
          </a:stretch>
        </p:blipFill>
        <p:spPr>
          <a:xfrm>
            <a:off x="1115039" y="4250000"/>
            <a:ext cx="4409921" cy="2050000"/>
          </a:xfrm>
          <a:prstGeom prst="rect">
            <a:avLst/>
          </a:prstGeom>
        </p:spPr>
      </p:pic>
      <p:pic>
        <p:nvPicPr>
          <p:cNvPr id="128" name="Admin knowledge library"/>
          <p:cNvPicPr/>
          <p:nvPr/>
        </p:nvPicPr>
        <p:blipFill>
          <a:blip r:embed="rIdEveAdmin"/>
          <a:stretch>
            <a:fillRect/>
          </a:stretch>
        </p:blipFill>
        <p:spPr>
          <a:xfrm>
            <a:off x="6932585" y="4250000"/>
            <a:ext cx="4334829" cy="205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DISCUSSION OF RESULTS / EVALUATION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Eve Content 18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python -m compileall -q api: passed.</a:t>
            </a:r>
          </a:p>
          <a:p>
            <a:r>
              <a:rPr lang="en-US" sz="2100"/>
              <a:t>- flutter analyze: no issues found.</a:t>
            </a:r>
          </a:p>
          <a:p>
            <a:r>
              <a:rPr lang="en-US" sz="2100"/>
              <a:t>- flutter test: all tests passed.</a:t>
            </a:r>
          </a:p>
          <a:p>
            <a:r>
              <a:rPr lang="en-US" sz="2100"/>
              <a:t>- Backend health endpoint returned ok.</a:t>
            </a:r>
          </a:p>
          <a:p>
            <a:r>
              <a:rPr lang="en-US" sz="2100"/>
              <a:t>- Student progress and progress-history endpoints returned saved data.</a:t>
            </a:r>
          </a:p>
          <a:p>
            <a:r>
              <a:rPr lang="en-US" sz="2100"/>
              <a:t>- Lecturer endpoint returned assigned-course learning trends.</a:t>
            </a:r>
          </a:p>
          <a:p>
            <a:r>
              <a:rPr lang="en-US" sz="2100"/>
              <a:t>- Upload-assisted Ask Eve used a CSC note as private context.</a:t>
            </a:r>
          </a:p>
          <a:p>
            <a:r>
              <a:rPr lang="en-US" sz="2100"/>
              <a:t>- Peer-note workflow kept student submissions pending until review.</a:t>
            </a:r>
          </a:p>
          <a:p>
            <a:r>
              <a:rPr lang="en-US" sz="2100"/>
              <a:t>- Guardrails blocked unsafe requests.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RECOMMENDATIONS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Eve Content 19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- The project successfully implemented an AI system for personalized learning and academic progress tracking.</a:t>
            </a:r>
          </a:p>
          <a:p>
            <a:r>
              <a:rPr lang="en-US" sz="2100"/>
              <a:t>- Eve supports guest, student, and lecturer modes.</a:t>
            </a:r>
          </a:p>
          <a:p>
            <a:r>
              <a:rPr lang="en-US" sz="2100"/>
              <a:t>- The system demonstrates RAG, guardrails, guided learning, saved progress, uploads, moderated peer notes, knowledge governance, and lecturer analytics.</a:t>
            </a:r>
          </a:p>
          <a:p>
            <a:r>
              <a:rPr lang="en-US" sz="2100"/>
              <a:t>- Recommendations: integrate official ESUI records, Canvas LMS, managed database storage, official lecturer accounts, and admin content approval.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9685" y="-17780"/>
            <a:ext cx="1217549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20000"/>
              </a:lnSpc>
            </a:pPr>
            <a:r>
              <a:rPr lang="en-US" altLang="en-GB" sz="2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SELECTED REFERENCES</a:t>
            </a:r>
            <a:endParaRPr lang="en-US" altLang="en-GB" sz="2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Eve Content 20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1750"/>
              <a:t>- Lewis et al. (2020) - Retrieval-Augmented Generation.</a:t>
            </a:r>
          </a:p>
          <a:p>
            <a:r>
              <a:rPr lang="en-US" sz="1750"/>
              <a:t>- NIST (2023) - AI Risk Management Framework.</a:t>
            </a:r>
          </a:p>
          <a:p>
            <a:r>
              <a:rPr lang="en-US" sz="1750"/>
              <a:t>- ISO/IEC (2023) - AI Management System.</a:t>
            </a:r>
          </a:p>
          <a:p>
            <a:r>
              <a:rPr lang="en-US" sz="1750"/>
              <a:t>- Zhao et al. (2023) - Survey of Large Language Models.</a:t>
            </a:r>
          </a:p>
          <a:p>
            <a:r>
              <a:rPr lang="en-US" sz="1750"/>
              <a:t>- Gao et al. (2024) - RAG Survey.</a:t>
            </a:r>
          </a:p>
          <a:p>
            <a:r>
              <a:rPr lang="en-US" sz="1750"/>
              <a:t>- OWASP (2025) - Top 10 for LLM Applications.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/>
          <p:cNvSpPr/>
          <p:nvPr/>
        </p:nvSpPr>
        <p:spPr>
          <a:xfrm rot="5400000">
            <a:off x="5986589" y="554546"/>
            <a:ext cx="219456" cy="12198350"/>
          </a:xfrm>
          <a:prstGeom prst="rect">
            <a:avLst/>
          </a:prstGeom>
          <a:solidFill>
            <a:srgbClr val="004B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Museo Sans 700" panose="02000000000000000000" pitchFamily="50" charset="0"/>
            </a:endParaRPr>
          </a:p>
        </p:txBody>
      </p:sp>
      <p:sp>
        <p:nvSpPr>
          <p:cNvPr id="7" name="Rectangle 2"/>
          <p:cNvSpPr/>
          <p:nvPr/>
        </p:nvSpPr>
        <p:spPr>
          <a:xfrm rot="5400000">
            <a:off x="6046469" y="716118"/>
            <a:ext cx="100584" cy="12198096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Museo Sans 700" panose="02000000000000000000" pitchFamily="50" charset="0"/>
            </a:endParaRPr>
          </a:p>
        </p:txBody>
      </p:sp>
      <p:pic>
        <p:nvPicPr>
          <p:cNvPr id="2" name="Picture 1" descr="edsui-log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1730" y="2104390"/>
            <a:ext cx="2014855" cy="20262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816210" y="44640"/>
            <a:ext cx="118189" cy="649224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TextBox 5"/>
          <p:cNvSpPr txBox="1"/>
          <p:nvPr/>
        </p:nvSpPr>
        <p:spPr>
          <a:xfrm>
            <a:off x="10795" y="-17780"/>
            <a:ext cx="9805670" cy="65608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endParaRPr lang="en-US" altLang="zh-CN" sz="80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CN" sz="80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sz="1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US" altLang="zh-CN" sz="115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Eve Content 21"/>
          <p:cNvSpPr txBox="1"/>
          <p:nvPr/>
        </p:nvSpPr>
        <p:spPr>
          <a:xfrm>
            <a:off x="760000" y="1480000"/>
            <a:ext cx="11380000" cy="50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100"/>
              <a:t>Thank you.</a:t>
            </a:r>
          </a:p>
          <a:p>
            <a:r>
              <a:rPr lang="en-US" sz="2100"/>
              <a:t>Questions and contributions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810</Words>
  <Application>WPS Presentation</Application>
  <PresentationFormat>Widescreen</PresentationFormat>
  <Paragraphs>63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2" baseType="lpstr">
      <vt:lpstr>Arial</vt:lpstr>
      <vt:lpstr>SimSun</vt:lpstr>
      <vt:lpstr>Wingdings</vt:lpstr>
      <vt:lpstr>Museo Sans 700</vt:lpstr>
      <vt:lpstr>Times New Roman</vt:lpstr>
      <vt:lpstr>Wide Latin</vt:lpstr>
      <vt:lpstr>Calibri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AH Msigwa</dc:creator>
  <cp:lastModifiedBy>ADMIN</cp:lastModifiedBy>
  <cp:revision>41</cp:revision>
  <dcterms:created xsi:type="dcterms:W3CDTF">2024-05-27T11:36:00Z</dcterms:created>
  <dcterms:modified xsi:type="dcterms:W3CDTF">2026-05-29T18:21:27Z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FCC433B3A17644FBBA07D7C6A965166E_13</vt:lpwstr>
  </property>
  <property fmtid="{D5CDD505-2E9C-101B-9397-08002B2CF9AE}" pid="3" name="KSOProductBuildVer">
    <vt:lpwstr>1033-12.1.0.26880</vt:lpwstr>
  </property>
</Properties>
</file>